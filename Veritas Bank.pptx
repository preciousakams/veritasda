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FC4193-7119-4495-A857-F56B87F7C326}" v="441" dt="2025-06-10T14:41:23.367"/>
    <p1510:client id="{7B9786DD-5525-44F5-8F29-D826925281AB}" v="1973" dt="2025-06-09T17:44:03.5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927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410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681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70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46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55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37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830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838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91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150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185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47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354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70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2239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155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981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16385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>
                <a:solidFill>
                  <a:srgbClr val="002060"/>
                </a:solidFill>
              </a:rPr>
              <a:t>Veritas Bank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5264" y="2731059"/>
            <a:ext cx="6987645" cy="13885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 b="1">
                <a:solidFill>
                  <a:srgbClr val="002060"/>
                </a:solidFill>
              </a:rPr>
              <a:t>Analysis Report</a:t>
            </a:r>
            <a:endParaRPr lang="en-US" sz="480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CC331-42A6-D3CC-D7B6-0624E3650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292" y="182592"/>
            <a:ext cx="10018713" cy="616788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2060"/>
                </a:solidFill>
              </a:rPr>
              <a:t>Executive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8914E-692B-B74F-3562-BCFB27226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9292" y="1272396"/>
            <a:ext cx="10823844" cy="467695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buNone/>
            </a:pPr>
            <a:r>
              <a:rPr lang="en-US" sz="2800" dirty="0">
                <a:solidFill>
                  <a:srgbClr val="002060"/>
                </a:solidFill>
                <a:latin typeface="Corbel"/>
                <a:cs typeface="Times New Roman"/>
              </a:rPr>
              <a:t>Veritas Bank is a UK-headquartered </a:t>
            </a:r>
            <a:r>
              <a:rPr lang="en-US" sz="2800" dirty="0">
                <a:solidFill>
                  <a:srgbClr val="002060"/>
                </a:solidFill>
                <a:ea typeface="+mn-lt"/>
                <a:cs typeface="+mn-lt"/>
              </a:rPr>
              <a:t>technology-driven </a:t>
            </a:r>
            <a:r>
              <a:rPr lang="en-US" sz="2800" dirty="0">
                <a:solidFill>
                  <a:srgbClr val="002060"/>
                </a:solidFill>
                <a:latin typeface="Corbel"/>
                <a:cs typeface="Times New Roman"/>
              </a:rPr>
              <a:t>retail bank </a:t>
            </a:r>
            <a:r>
              <a:rPr lang="en-US" sz="2800" dirty="0">
                <a:solidFill>
                  <a:srgbClr val="002060"/>
                </a:solidFill>
                <a:ea typeface="+mn-lt"/>
                <a:cs typeface="+mn-lt"/>
              </a:rPr>
              <a:t>established in the </a:t>
            </a:r>
            <a:r>
              <a:rPr lang="en-US" sz="2800" b="1" dirty="0">
                <a:solidFill>
                  <a:srgbClr val="002060"/>
                </a:solidFill>
                <a:ea typeface="+mn-lt"/>
                <a:cs typeface="+mn-lt"/>
              </a:rPr>
              <a:t>1990s</a:t>
            </a:r>
            <a:r>
              <a:rPr lang="en-US" sz="2800" dirty="0">
                <a:solidFill>
                  <a:srgbClr val="002060"/>
                </a:solidFill>
                <a:latin typeface="Corbel"/>
                <a:cs typeface="Times New Roman"/>
              </a:rPr>
              <a:t> with major operations across Germany and France. </a:t>
            </a:r>
            <a:endParaRPr lang="en-US" sz="2800" dirty="0"/>
          </a:p>
          <a:p>
            <a:pPr algn="ctr">
              <a:buNone/>
            </a:pPr>
            <a:r>
              <a:rPr lang="en-US" sz="2800" dirty="0">
                <a:solidFill>
                  <a:srgbClr val="002060"/>
                </a:solidFill>
                <a:cs typeface="Times New Roman"/>
              </a:rPr>
              <a:t>Veritas Bank for the duration covered by this analysis has </a:t>
            </a:r>
            <a:r>
              <a:rPr lang="en-US" sz="2800" b="1" dirty="0">
                <a:solidFill>
                  <a:srgbClr val="002060"/>
                </a:solidFill>
                <a:cs typeface="Times New Roman"/>
              </a:rPr>
              <a:t>10,000 customers</a:t>
            </a:r>
            <a:r>
              <a:rPr lang="en-US" sz="2800" dirty="0">
                <a:solidFill>
                  <a:srgbClr val="002060"/>
                </a:solidFill>
                <a:cs typeface="Times New Roman"/>
              </a:rPr>
              <a:t>, a </a:t>
            </a:r>
            <a:r>
              <a:rPr lang="en-US" sz="2800" b="1" dirty="0">
                <a:solidFill>
                  <a:srgbClr val="002060"/>
                </a:solidFill>
                <a:cs typeface="Times New Roman"/>
              </a:rPr>
              <a:t>total balance</a:t>
            </a:r>
            <a:r>
              <a:rPr lang="en-US" sz="2800" dirty="0">
                <a:solidFill>
                  <a:srgbClr val="002060"/>
                </a:solidFill>
                <a:cs typeface="Times New Roman"/>
              </a:rPr>
              <a:t> of </a:t>
            </a:r>
            <a:r>
              <a:rPr lang="en-US" sz="2800" dirty="0">
                <a:solidFill>
                  <a:srgbClr val="002060"/>
                </a:solidFill>
                <a:ea typeface="+mn-lt"/>
                <a:cs typeface="+mn-lt"/>
              </a:rPr>
              <a:t>£</a:t>
            </a:r>
            <a:r>
              <a:rPr lang="en-US" sz="2800" b="1" dirty="0">
                <a:solidFill>
                  <a:srgbClr val="002060"/>
                </a:solidFill>
                <a:cs typeface="Times New Roman"/>
              </a:rPr>
              <a:t>271.5  million, 4 products</a:t>
            </a:r>
            <a:r>
              <a:rPr lang="en-US" sz="2800" dirty="0">
                <a:solidFill>
                  <a:srgbClr val="002060"/>
                </a:solidFill>
                <a:cs typeface="Times New Roman"/>
              </a:rPr>
              <a:t>, and an </a:t>
            </a:r>
            <a:r>
              <a:rPr lang="en-US" sz="2800" b="1">
                <a:solidFill>
                  <a:srgbClr val="002060"/>
                </a:solidFill>
                <a:cs typeface="Times New Roman"/>
              </a:rPr>
              <a:t>average customer credit score </a:t>
            </a:r>
            <a:r>
              <a:rPr lang="en-US" sz="2800" dirty="0">
                <a:solidFill>
                  <a:srgbClr val="002060"/>
                </a:solidFill>
                <a:cs typeface="Times New Roman"/>
              </a:rPr>
              <a:t>of</a:t>
            </a:r>
            <a:r>
              <a:rPr lang="en-US" sz="2800" b="1" dirty="0">
                <a:solidFill>
                  <a:srgbClr val="002060"/>
                </a:solidFill>
                <a:cs typeface="Times New Roman"/>
              </a:rPr>
              <a:t> 651.</a:t>
            </a:r>
          </a:p>
          <a:p>
            <a:pPr algn="ctr">
              <a:buNone/>
            </a:pPr>
            <a:r>
              <a:rPr lang="en-US" sz="2800" dirty="0">
                <a:solidFill>
                  <a:srgbClr val="002060"/>
                </a:solidFill>
                <a:cs typeface="Times New Roman"/>
              </a:rPr>
              <a:t>On the other hand, Veritas bank has a </a:t>
            </a:r>
            <a:r>
              <a:rPr lang="en-US" sz="2800" b="1" dirty="0">
                <a:solidFill>
                  <a:srgbClr val="002060"/>
                </a:solidFill>
                <a:cs typeface="Times New Roman"/>
              </a:rPr>
              <a:t>churn rate</a:t>
            </a:r>
            <a:r>
              <a:rPr lang="en-US" sz="2800" dirty="0">
                <a:solidFill>
                  <a:srgbClr val="002060"/>
                </a:solidFill>
                <a:cs typeface="Times New Roman"/>
              </a:rPr>
              <a:t> of </a:t>
            </a:r>
            <a:r>
              <a:rPr lang="en-US" sz="2800" b="1" dirty="0">
                <a:solidFill>
                  <a:srgbClr val="002060"/>
                </a:solidFill>
                <a:cs typeface="Times New Roman"/>
              </a:rPr>
              <a:t>14%, Churn Balance is 22.59 million </a:t>
            </a:r>
            <a:r>
              <a:rPr lang="en-US" sz="2800" dirty="0">
                <a:solidFill>
                  <a:srgbClr val="002060"/>
                </a:solidFill>
                <a:cs typeface="Times New Roman"/>
              </a:rPr>
              <a:t>which is </a:t>
            </a:r>
            <a:r>
              <a:rPr lang="en-US" sz="2800" b="1" dirty="0">
                <a:solidFill>
                  <a:srgbClr val="002060"/>
                </a:solidFill>
                <a:cs typeface="Times New Roman"/>
              </a:rPr>
              <a:t>8% </a:t>
            </a:r>
            <a:r>
              <a:rPr lang="en-US" sz="2800" dirty="0">
                <a:solidFill>
                  <a:srgbClr val="002060"/>
                </a:solidFill>
                <a:cs typeface="Times New Roman"/>
              </a:rPr>
              <a:t>of the </a:t>
            </a:r>
            <a:r>
              <a:rPr lang="en-US" sz="2800" b="1" dirty="0">
                <a:solidFill>
                  <a:srgbClr val="002060"/>
                </a:solidFill>
                <a:cs typeface="Times New Roman"/>
              </a:rPr>
              <a:t>total balance, </a:t>
            </a:r>
            <a:r>
              <a:rPr lang="en-US" sz="2800" dirty="0">
                <a:solidFill>
                  <a:srgbClr val="002060"/>
                </a:solidFill>
                <a:cs typeface="Times New Roman"/>
              </a:rPr>
              <a:t>a </a:t>
            </a:r>
            <a:r>
              <a:rPr lang="en-US" sz="2800" b="1" dirty="0">
                <a:solidFill>
                  <a:srgbClr val="002060"/>
                </a:solidFill>
                <a:cs typeface="Times New Roman"/>
              </a:rPr>
              <a:t>maximum tenure</a:t>
            </a:r>
            <a:r>
              <a:rPr lang="en-US" sz="2800" dirty="0">
                <a:solidFill>
                  <a:srgbClr val="002060"/>
                </a:solidFill>
                <a:cs typeface="Times New Roman"/>
              </a:rPr>
              <a:t> of</a:t>
            </a:r>
            <a:r>
              <a:rPr lang="en-US" sz="2800" b="1" dirty="0">
                <a:solidFill>
                  <a:srgbClr val="002060"/>
                </a:solidFill>
                <a:cs typeface="Times New Roman"/>
              </a:rPr>
              <a:t> 10 years </a:t>
            </a:r>
            <a:r>
              <a:rPr lang="en-US" sz="2800" dirty="0">
                <a:solidFill>
                  <a:srgbClr val="002060"/>
                </a:solidFill>
                <a:cs typeface="Times New Roman"/>
              </a:rPr>
              <a:t>and an </a:t>
            </a:r>
            <a:r>
              <a:rPr lang="en-US" sz="2800" b="1" dirty="0">
                <a:solidFill>
                  <a:srgbClr val="002060"/>
                </a:solidFill>
                <a:cs typeface="Times New Roman"/>
              </a:rPr>
              <a:t>average tenure </a:t>
            </a:r>
            <a:r>
              <a:rPr lang="en-US" sz="2800" dirty="0">
                <a:solidFill>
                  <a:srgbClr val="002060"/>
                </a:solidFill>
                <a:cs typeface="Times New Roman"/>
              </a:rPr>
              <a:t>of </a:t>
            </a:r>
            <a:r>
              <a:rPr lang="en-US" sz="2800" b="1" dirty="0">
                <a:solidFill>
                  <a:srgbClr val="002060"/>
                </a:solidFill>
                <a:cs typeface="Times New Roman"/>
              </a:rPr>
              <a:t>5 years</a:t>
            </a:r>
          </a:p>
          <a:p>
            <a:pPr>
              <a:buNone/>
            </a:pPr>
            <a:endParaRPr lang="en-US" b="1">
              <a:solidFill>
                <a:srgbClr val="002060"/>
              </a:solidFill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82006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34C7D-BA05-B9FC-CFAD-6DB8730B0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A0D6E-8D63-DD01-0352-ACD0DCBFD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292" y="182592"/>
            <a:ext cx="10018713" cy="616788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2060"/>
                </a:solidFill>
              </a:rPr>
              <a:t>Customer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B3086-5613-E4F1-86A5-C366006B1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3118" y="791782"/>
            <a:ext cx="10360018" cy="606313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>
                <a:solidFill>
                  <a:srgbClr val="002060"/>
                </a:solidFill>
                <a:cs typeface="Times New Roman"/>
              </a:rPr>
              <a:t>Member Status:</a:t>
            </a:r>
            <a:endParaRPr lang="en-US" b="1"/>
          </a:p>
          <a:p>
            <a:r>
              <a:rPr lang="en-US" sz="2200">
                <a:solidFill>
                  <a:srgbClr val="002060"/>
                </a:solidFill>
                <a:cs typeface="Times New Roman"/>
              </a:rPr>
              <a:t>Active Members: 52%</a:t>
            </a:r>
          </a:p>
          <a:p>
            <a:r>
              <a:rPr lang="en-US" sz="2200">
                <a:solidFill>
                  <a:srgbClr val="002060"/>
                </a:solidFill>
                <a:cs typeface="Times New Roman"/>
              </a:rPr>
              <a:t>Inactive Members:48%</a:t>
            </a:r>
          </a:p>
          <a:p>
            <a:pPr marL="0" indent="0">
              <a:buNone/>
            </a:pPr>
            <a:r>
              <a:rPr lang="en-US" b="1">
                <a:solidFill>
                  <a:srgbClr val="002060"/>
                </a:solidFill>
                <a:cs typeface="Times New Roman"/>
              </a:rPr>
              <a:t>Card Status:</a:t>
            </a:r>
            <a:endParaRPr lang="en-US">
              <a:solidFill>
                <a:srgbClr val="000000"/>
              </a:solidFill>
              <a:cs typeface="Times New Roman"/>
            </a:endParaRPr>
          </a:p>
          <a:p>
            <a:pPr>
              <a:buClr>
                <a:srgbClr val="1287C3"/>
              </a:buClr>
            </a:pPr>
            <a:r>
              <a:rPr lang="en-US" sz="2200">
                <a:solidFill>
                  <a:srgbClr val="002060"/>
                </a:solidFill>
                <a:cs typeface="Times New Roman"/>
              </a:rPr>
              <a:t>Credit Card Members:72%</a:t>
            </a:r>
            <a:endParaRPr lang="en-US" sz="2200"/>
          </a:p>
          <a:p>
            <a:pPr>
              <a:buClr>
                <a:srgbClr val="1287C3"/>
              </a:buClr>
            </a:pPr>
            <a:r>
              <a:rPr lang="en-US" sz="2200">
                <a:solidFill>
                  <a:srgbClr val="002060"/>
                </a:solidFill>
                <a:cs typeface="Times New Roman"/>
              </a:rPr>
              <a:t>No Credit Card Members:28%</a:t>
            </a:r>
          </a:p>
          <a:p>
            <a:pPr marL="0" indent="0">
              <a:buClr>
                <a:srgbClr val="1287C3"/>
              </a:buClr>
              <a:buNone/>
            </a:pPr>
            <a:r>
              <a:rPr lang="en-US" b="1">
                <a:solidFill>
                  <a:srgbClr val="002060"/>
                </a:solidFill>
                <a:cs typeface="Times New Roman"/>
              </a:rPr>
              <a:t>Credit Score Status (Equifax):</a:t>
            </a:r>
          </a:p>
          <a:p>
            <a:pPr marL="457200" indent="-457200"/>
            <a:r>
              <a:rPr lang="en-US" sz="2200">
                <a:solidFill>
                  <a:srgbClr val="002060"/>
                </a:solidFill>
                <a:cs typeface="Times New Roman"/>
              </a:rPr>
              <a:t>Good: 4,763 Members</a:t>
            </a:r>
          </a:p>
          <a:p>
            <a:pPr marL="457200" indent="-457200"/>
            <a:r>
              <a:rPr lang="en-US" sz="2200">
                <a:solidFill>
                  <a:srgbClr val="002060"/>
                </a:solidFill>
                <a:cs typeface="Times New Roman"/>
              </a:rPr>
              <a:t>Very good: 3,707 Members</a:t>
            </a:r>
          </a:p>
          <a:p>
            <a:pPr marL="457200" indent="-457200"/>
            <a:r>
              <a:rPr lang="en-US" sz="2200">
                <a:solidFill>
                  <a:srgbClr val="002060"/>
                </a:solidFill>
                <a:cs typeface="Times New Roman"/>
              </a:rPr>
              <a:t>Fair: 912 Members</a:t>
            </a:r>
          </a:p>
          <a:p>
            <a:pPr marL="457200" indent="-457200"/>
            <a:r>
              <a:rPr lang="en-US" sz="2200">
                <a:solidFill>
                  <a:srgbClr val="002060"/>
                </a:solidFill>
                <a:cs typeface="Times New Roman"/>
              </a:rPr>
              <a:t>Excellent: 487 Members</a:t>
            </a:r>
          </a:p>
          <a:p>
            <a:pPr marL="457200" indent="-457200"/>
            <a:r>
              <a:rPr lang="en-US" sz="2200">
                <a:solidFill>
                  <a:srgbClr val="002060"/>
                </a:solidFill>
                <a:cs typeface="Times New Roman"/>
              </a:rPr>
              <a:t>Poor: 131 Members</a:t>
            </a:r>
          </a:p>
        </p:txBody>
      </p:sp>
      <p:pic>
        <p:nvPicPr>
          <p:cNvPr id="5" name="Picture 4" descr="A screenshot of a group of members&#10;&#10;AI-generated content may be incorrect.">
            <a:extLst>
              <a:ext uri="{FF2B5EF4-FFF2-40B4-BE49-F238E27FC236}">
                <a16:creationId xmlns:a16="http://schemas.microsoft.com/office/drawing/2014/main" id="{2AB7DED7-7D04-27A4-80D2-D424C1BA9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149" y="788048"/>
            <a:ext cx="5594667" cy="2024203"/>
          </a:xfrm>
          <a:prstGeom prst="rect">
            <a:avLst/>
          </a:prstGeom>
        </p:spPr>
      </p:pic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DBB0FE2-2161-E76D-ACC5-272ACB04E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473" y="2823615"/>
            <a:ext cx="5598903" cy="2011515"/>
          </a:xfrm>
          <a:prstGeom prst="rect">
            <a:avLst/>
          </a:prstGeom>
        </p:spPr>
      </p:pic>
      <p:pic>
        <p:nvPicPr>
          <p:cNvPr id="8" name="Picture 7" descr="A screenshot of a credit score&#10;&#10;AI-generated content may be incorrect.">
            <a:extLst>
              <a:ext uri="{FF2B5EF4-FFF2-40B4-BE49-F238E27FC236}">
                <a16:creationId xmlns:a16="http://schemas.microsoft.com/office/drawing/2014/main" id="{04125FDB-642E-A70D-3E83-A562BAD04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0210" y="4829865"/>
            <a:ext cx="4091056" cy="202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177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B3D52-B444-EDA9-A236-B98A80A54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B3E1-108F-6295-05F4-4DEB64E00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292" y="182592"/>
            <a:ext cx="10018713" cy="616788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2060"/>
                </a:solidFill>
              </a:rPr>
              <a:t>Customer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41874-BDDE-FBEE-930E-755DE5657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9292" y="787058"/>
            <a:ext cx="10823844" cy="6054920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buNone/>
            </a:pPr>
            <a:endParaRPr lang="en-US" sz="2800" b="1">
              <a:solidFill>
                <a:srgbClr val="002060"/>
              </a:solidFill>
              <a:cs typeface="Times New Roman"/>
            </a:endParaRPr>
          </a:p>
          <a:p>
            <a:pPr>
              <a:buNone/>
            </a:pPr>
            <a:r>
              <a:rPr lang="en-US" sz="2800" b="1">
                <a:solidFill>
                  <a:srgbClr val="002060"/>
                </a:solidFill>
                <a:cs typeface="Times New Roman"/>
              </a:rPr>
              <a:t>Age Demographics:</a:t>
            </a:r>
            <a:endParaRPr lang="en-US" sz="2800" b="1"/>
          </a:p>
          <a:p>
            <a:r>
              <a:rPr lang="en-US">
                <a:solidFill>
                  <a:srgbClr val="002060"/>
                </a:solidFill>
                <a:cs typeface="Times New Roman"/>
              </a:rPr>
              <a:t>Most Members are between:31-40</a:t>
            </a:r>
          </a:p>
          <a:p>
            <a:r>
              <a:rPr lang="en-US">
                <a:solidFill>
                  <a:srgbClr val="002060"/>
                </a:solidFill>
                <a:cs typeface="Times New Roman"/>
              </a:rPr>
              <a:t>The least age is: 61+</a:t>
            </a:r>
          </a:p>
          <a:p>
            <a:pPr marL="0" indent="0">
              <a:buNone/>
            </a:pPr>
            <a:endParaRPr lang="en-US" sz="2800" b="1">
              <a:solidFill>
                <a:srgbClr val="002060"/>
              </a:solidFill>
              <a:cs typeface="Times New Roman"/>
            </a:endParaRPr>
          </a:p>
          <a:p>
            <a:pPr marL="0" indent="0">
              <a:buNone/>
            </a:pPr>
            <a:r>
              <a:rPr lang="en-US" sz="2800" b="1">
                <a:solidFill>
                  <a:srgbClr val="002060"/>
                </a:solidFill>
                <a:cs typeface="Times New Roman"/>
              </a:rPr>
              <a:t>Bank Balance:</a:t>
            </a:r>
            <a:endParaRPr lang="en-US" sz="2800"/>
          </a:p>
          <a:p>
            <a:r>
              <a:rPr lang="en-US">
                <a:solidFill>
                  <a:srgbClr val="002060"/>
                </a:solidFill>
                <a:cs typeface="Times New Roman"/>
              </a:rPr>
              <a:t>Age 31-40 has the highest balance:36%</a:t>
            </a:r>
          </a:p>
          <a:p>
            <a:pPr>
              <a:buClr>
                <a:srgbClr val="1287C3"/>
              </a:buClr>
            </a:pPr>
            <a:r>
              <a:rPr lang="en-US">
                <a:solidFill>
                  <a:srgbClr val="002060"/>
                </a:solidFill>
                <a:cs typeface="Times New Roman"/>
              </a:rPr>
              <a:t>Age 61+ has the least balance:28%</a:t>
            </a:r>
          </a:p>
          <a:p>
            <a:pPr marL="0" indent="0">
              <a:buClr>
                <a:srgbClr val="1287C3"/>
              </a:buClr>
              <a:buNone/>
            </a:pPr>
            <a:endParaRPr lang="en-US" sz="2000" b="1" i="1">
              <a:solidFill>
                <a:srgbClr val="002060"/>
              </a:solidFill>
              <a:cs typeface="Times New Roman"/>
            </a:endParaRPr>
          </a:p>
          <a:p>
            <a:pPr marL="0" indent="0">
              <a:buNone/>
            </a:pPr>
            <a:r>
              <a:rPr lang="en-US" sz="2000" b="1" i="1">
                <a:solidFill>
                  <a:srgbClr val="002060"/>
                </a:solidFill>
                <a:cs typeface="Times New Roman"/>
              </a:rPr>
              <a:t> This trend cuts across credit card and membership status</a:t>
            </a:r>
          </a:p>
          <a:p>
            <a:pPr marL="0" indent="0">
              <a:buNone/>
            </a:pPr>
            <a:r>
              <a:rPr lang="en-US" sz="2000" b="1" i="1">
                <a:solidFill>
                  <a:srgbClr val="002060"/>
                </a:solidFill>
                <a:cs typeface="Times New Roman"/>
              </a:rPr>
              <a:t>  It indicates that the most productive customers </a:t>
            </a:r>
            <a:endParaRPr lang="en-US" sz="2000" i="1">
              <a:solidFill>
                <a:srgbClr val="000000"/>
              </a:solidFill>
              <a:cs typeface="Times New Roman"/>
            </a:endParaRPr>
          </a:p>
          <a:p>
            <a:pPr marL="0" indent="0">
              <a:buNone/>
            </a:pPr>
            <a:r>
              <a:rPr lang="en-US" sz="2000" b="1" i="1">
                <a:solidFill>
                  <a:srgbClr val="002060"/>
                </a:solidFill>
                <a:cs typeface="Times New Roman"/>
              </a:rPr>
              <a:t>   are within their career prime while the least</a:t>
            </a:r>
            <a:endParaRPr lang="en-US" sz="2000" i="1">
              <a:solidFill>
                <a:srgbClr val="000000"/>
              </a:solidFill>
              <a:cs typeface="Times New Roman"/>
            </a:endParaRPr>
          </a:p>
          <a:p>
            <a:pPr marL="0" indent="0">
              <a:buNone/>
            </a:pPr>
            <a:r>
              <a:rPr lang="en-US" sz="2000" b="1" i="1">
                <a:solidFill>
                  <a:srgbClr val="002060"/>
                </a:solidFill>
                <a:cs typeface="Times New Roman"/>
              </a:rPr>
              <a:t>     productive are likely retirees.</a:t>
            </a:r>
            <a:endParaRPr lang="en-US" sz="2000" i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EAC42B-7FF0-2EE4-3524-7495063F4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5277" y="796776"/>
            <a:ext cx="4623937" cy="25758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0B492C-0015-19AE-DCD9-BB47BA3CA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806" y="3610155"/>
            <a:ext cx="4636877" cy="324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907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48923-3A83-BA99-A2FE-0CCD349EC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801C5-3124-4EB3-C798-495FEC968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292" y="182592"/>
            <a:ext cx="10018713" cy="616788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2060"/>
                </a:solidFill>
              </a:rPr>
              <a:t>Segment Analysis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93BDF-755F-DD45-B6CD-4D62E3923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2692" y="880511"/>
            <a:ext cx="10290444" cy="59832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800" b="1">
              <a:solidFill>
                <a:srgbClr val="002060"/>
              </a:solidFill>
              <a:cs typeface="Times New Roman"/>
            </a:endParaRPr>
          </a:p>
          <a:p>
            <a:pPr marL="0" indent="0">
              <a:buNone/>
            </a:pPr>
            <a:r>
              <a:rPr lang="en-US" sz="2800" b="1">
                <a:solidFill>
                  <a:srgbClr val="002060"/>
                </a:solidFill>
                <a:cs typeface="Times New Roman"/>
              </a:rPr>
              <a:t>Regional Bank Balance</a:t>
            </a:r>
            <a:endParaRPr lang="en-US" b="1">
              <a:solidFill>
                <a:srgbClr val="002060"/>
              </a:solidFill>
              <a:cs typeface="Times New Roman"/>
            </a:endParaRPr>
          </a:p>
          <a:p>
            <a:pPr marL="457200" indent="-457200"/>
            <a:r>
              <a:rPr lang="en-US" sz="2000">
                <a:solidFill>
                  <a:srgbClr val="002060"/>
                </a:solidFill>
                <a:cs typeface="Times New Roman"/>
              </a:rPr>
              <a:t>United Kingdom: 51% </a:t>
            </a:r>
          </a:p>
          <a:p>
            <a:pPr marL="457200" indent="-457200"/>
            <a:r>
              <a:rPr lang="en-US" sz="2000">
                <a:solidFill>
                  <a:srgbClr val="002060"/>
                </a:solidFill>
                <a:cs typeface="Times New Roman"/>
              </a:rPr>
              <a:t>Germany: 25%</a:t>
            </a:r>
          </a:p>
          <a:p>
            <a:pPr marL="457200" indent="-457200"/>
            <a:r>
              <a:rPr lang="en-US" sz="2000">
                <a:solidFill>
                  <a:srgbClr val="002060"/>
                </a:solidFill>
                <a:cs typeface="Times New Roman"/>
              </a:rPr>
              <a:t>France: 24%</a:t>
            </a:r>
          </a:p>
          <a:p>
            <a:pPr marL="0" indent="0">
              <a:buNone/>
            </a:pPr>
            <a:endParaRPr lang="en-US" b="1">
              <a:solidFill>
                <a:srgbClr val="002060"/>
              </a:solidFill>
              <a:cs typeface="Times New Roman"/>
            </a:endParaRPr>
          </a:p>
          <a:p>
            <a:pPr marL="0" indent="0">
              <a:buNone/>
            </a:pPr>
            <a:r>
              <a:rPr lang="en-US" b="1">
                <a:solidFill>
                  <a:srgbClr val="002060"/>
                </a:solidFill>
                <a:cs typeface="Times New Roman"/>
              </a:rPr>
              <a:t>Regional Membership Status</a:t>
            </a:r>
            <a:endParaRPr lang="en-US" b="1"/>
          </a:p>
          <a:p>
            <a:pPr marL="457200" indent="-457200">
              <a:buClr>
                <a:srgbClr val="1287C3"/>
              </a:buClr>
            </a:pPr>
            <a:r>
              <a:rPr lang="en-US" sz="2000">
                <a:solidFill>
                  <a:srgbClr val="002060"/>
                </a:solidFill>
                <a:cs typeface="Times New Roman"/>
              </a:rPr>
              <a:t>United Kingdom client base: 50% </a:t>
            </a:r>
          </a:p>
          <a:p>
            <a:pPr marL="457200" indent="-457200">
              <a:buClr>
                <a:srgbClr val="1287C3"/>
              </a:buClr>
            </a:pPr>
            <a:r>
              <a:rPr lang="en-US" sz="2000">
                <a:solidFill>
                  <a:srgbClr val="002060"/>
                </a:solidFill>
                <a:cs typeface="Times New Roman"/>
              </a:rPr>
              <a:t>Germany client base: 25%</a:t>
            </a:r>
          </a:p>
          <a:p>
            <a:pPr marL="457200" indent="-457200">
              <a:buClr>
                <a:srgbClr val="1287C3"/>
              </a:buClr>
            </a:pPr>
            <a:r>
              <a:rPr lang="en-US" sz="2000">
                <a:solidFill>
                  <a:srgbClr val="002060"/>
                </a:solidFill>
                <a:cs typeface="Times New Roman"/>
              </a:rPr>
              <a:t>France client base: 25%</a:t>
            </a:r>
          </a:p>
          <a:p>
            <a:pPr marL="0" indent="0">
              <a:buClr>
                <a:srgbClr val="1287C3"/>
              </a:buClr>
              <a:buNone/>
            </a:pPr>
            <a:r>
              <a:rPr lang="en-US" sz="2000" i="1">
                <a:solidFill>
                  <a:srgbClr val="002060"/>
                </a:solidFill>
                <a:cs typeface="Times New Roman"/>
              </a:rPr>
              <a:t>     </a:t>
            </a:r>
          </a:p>
          <a:p>
            <a:pPr marL="0" indent="0">
              <a:buNone/>
            </a:pPr>
            <a:r>
              <a:rPr lang="en-US" sz="2000" i="1">
                <a:solidFill>
                  <a:srgbClr val="002060"/>
                </a:solidFill>
                <a:cs typeface="Times New Roman"/>
              </a:rPr>
              <a:t>  Credit card status share similar trend.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93222C-E2C3-6576-B60F-07AB30719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408" y="881064"/>
            <a:ext cx="5248273" cy="2701017"/>
          </a:xfrm>
          <a:prstGeom prst="rect">
            <a:avLst/>
          </a:prstGeom>
        </p:spPr>
      </p:pic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AD782D92-0E60-63C3-565B-632CA23C9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849" y="3923621"/>
            <a:ext cx="5237389" cy="292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876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05DD2-66B1-FDDE-4117-A0BC9B671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C8EFE-059F-E6C2-B7C9-559B459F3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292" y="182592"/>
            <a:ext cx="10018713" cy="616788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2060"/>
                </a:solidFill>
              </a:rPr>
              <a:t>Churn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0973B-023A-856B-E6B3-178C03C81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2756" y="814272"/>
            <a:ext cx="10320380" cy="6041313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>
              <a:buNone/>
            </a:pPr>
            <a:endParaRPr lang="en-US" b="1">
              <a:solidFill>
                <a:srgbClr val="002060"/>
              </a:solidFill>
              <a:cs typeface="Times New Roman"/>
            </a:endParaRPr>
          </a:p>
          <a:p>
            <a:pPr>
              <a:buNone/>
            </a:pPr>
            <a:r>
              <a:rPr lang="en-US" b="1">
                <a:solidFill>
                  <a:srgbClr val="002060"/>
                </a:solidFill>
                <a:cs typeface="Times New Roman"/>
              </a:rPr>
              <a:t>Churned Customer Status:</a:t>
            </a:r>
            <a:endParaRPr lang="en-US" b="1">
              <a:solidFill>
                <a:srgbClr val="000000"/>
              </a:solidFill>
              <a:cs typeface="Times New Roman"/>
            </a:endParaRPr>
          </a:p>
          <a:p>
            <a:r>
              <a:rPr lang="en-US" sz="2000">
                <a:solidFill>
                  <a:srgbClr val="002060"/>
                </a:solidFill>
                <a:cs typeface="Times New Roman"/>
              </a:rPr>
              <a:t>Total churned customers: 1385</a:t>
            </a:r>
          </a:p>
          <a:p>
            <a:pPr>
              <a:buClr>
                <a:srgbClr val="1287C3"/>
              </a:buClr>
            </a:pPr>
            <a:r>
              <a:rPr lang="en-US" sz="2000">
                <a:solidFill>
                  <a:srgbClr val="002060"/>
                </a:solidFill>
                <a:cs typeface="Times New Roman"/>
              </a:rPr>
              <a:t>Balance from churned customers: 8%</a:t>
            </a:r>
          </a:p>
          <a:p>
            <a:pPr>
              <a:buClr>
                <a:srgbClr val="1287C3"/>
              </a:buClr>
            </a:pPr>
            <a:r>
              <a:rPr lang="en-US" sz="2000">
                <a:solidFill>
                  <a:srgbClr val="002060"/>
                </a:solidFill>
                <a:cs typeface="Times New Roman"/>
              </a:rPr>
              <a:t>Inactive customers: 48%</a:t>
            </a:r>
          </a:p>
          <a:p>
            <a:pPr>
              <a:buClr>
                <a:srgbClr val="1287C3"/>
              </a:buClr>
            </a:pPr>
            <a:endParaRPr lang="en-US" sz="2000">
              <a:solidFill>
                <a:srgbClr val="002060"/>
              </a:solidFill>
              <a:cs typeface="Times New Roman"/>
            </a:endParaRPr>
          </a:p>
          <a:p>
            <a:pPr marL="0" indent="0">
              <a:buClr>
                <a:srgbClr val="1287C3"/>
              </a:buClr>
              <a:buNone/>
            </a:pPr>
            <a:r>
              <a:rPr lang="en-US" sz="2000" b="1">
                <a:solidFill>
                  <a:srgbClr val="002060"/>
                </a:solidFill>
                <a:cs typeface="Times New Roman"/>
              </a:rPr>
              <a:t>Churned Customer Gender:</a:t>
            </a:r>
          </a:p>
          <a:p>
            <a:pPr>
              <a:buClr>
                <a:srgbClr val="1287C3"/>
              </a:buClr>
            </a:pPr>
            <a:r>
              <a:rPr lang="en-US" sz="2000">
                <a:solidFill>
                  <a:srgbClr val="002060"/>
                </a:solidFill>
                <a:cs typeface="Times New Roman"/>
              </a:rPr>
              <a:t>Male gender: 55%</a:t>
            </a:r>
          </a:p>
          <a:p>
            <a:pPr>
              <a:buClr>
                <a:srgbClr val="1287C3"/>
              </a:buClr>
            </a:pPr>
            <a:r>
              <a:rPr lang="en-US" sz="2000">
                <a:solidFill>
                  <a:srgbClr val="002060"/>
                </a:solidFill>
                <a:cs typeface="Times New Roman"/>
              </a:rPr>
              <a:t>Female gender: 45%</a:t>
            </a:r>
          </a:p>
          <a:p>
            <a:pPr>
              <a:buClr>
                <a:srgbClr val="1287C3"/>
              </a:buClr>
            </a:pPr>
            <a:endParaRPr lang="en-US" sz="2000">
              <a:solidFill>
                <a:srgbClr val="002060"/>
              </a:solidFill>
              <a:cs typeface="Times New Roman"/>
            </a:endParaRPr>
          </a:p>
          <a:p>
            <a:pPr marL="0" indent="0">
              <a:buClr>
                <a:srgbClr val="1287C3"/>
              </a:buClr>
              <a:buNone/>
            </a:pPr>
            <a:r>
              <a:rPr lang="en-US" sz="2000" b="1">
                <a:solidFill>
                  <a:srgbClr val="002060"/>
                </a:solidFill>
                <a:cs typeface="Times New Roman"/>
              </a:rPr>
              <a:t>Churned Customer Tenure:</a:t>
            </a:r>
          </a:p>
          <a:p>
            <a:pPr marL="342900" indent="-342900"/>
            <a:r>
              <a:rPr lang="en-US" sz="2000">
                <a:solidFill>
                  <a:srgbClr val="002060"/>
                </a:solidFill>
                <a:cs typeface="Times New Roman"/>
              </a:rPr>
              <a:t>Maximum customer tenure : 10 years</a:t>
            </a:r>
          </a:p>
          <a:p>
            <a:pPr marL="342900" indent="-342900"/>
            <a:r>
              <a:rPr lang="en-US" sz="2000">
                <a:solidFill>
                  <a:srgbClr val="002060"/>
                </a:solidFill>
                <a:cs typeface="Times New Roman"/>
              </a:rPr>
              <a:t>Average tenure: 5 years</a:t>
            </a:r>
            <a:endParaRPr lang="en-US"/>
          </a:p>
          <a:p>
            <a:pPr marL="342900" indent="-342900">
              <a:buClr>
                <a:srgbClr val="1287C3"/>
              </a:buClr>
            </a:pPr>
            <a:endParaRPr lang="en-US" sz="2000">
              <a:solidFill>
                <a:srgbClr val="002060"/>
              </a:solidFill>
              <a:cs typeface="Times New Roman"/>
            </a:endParaRPr>
          </a:p>
          <a:p>
            <a:pPr marL="0" indent="0">
              <a:buNone/>
            </a:pPr>
            <a:endParaRPr lang="en-US" sz="2800" b="1">
              <a:solidFill>
                <a:srgbClr val="002060"/>
              </a:solidFill>
              <a:cs typeface="Times New Roman"/>
            </a:endParaRPr>
          </a:p>
          <a:p>
            <a:pPr marL="0" indent="0">
              <a:buNone/>
            </a:pPr>
            <a:r>
              <a:rPr lang="en-US" sz="2000" b="1" i="1">
                <a:solidFill>
                  <a:srgbClr val="002060"/>
                </a:solidFill>
                <a:cs typeface="Times New Roman"/>
              </a:rPr>
              <a:t> </a:t>
            </a:r>
          </a:p>
        </p:txBody>
      </p:sp>
      <p:pic>
        <p:nvPicPr>
          <p:cNvPr id="5" name="Picture 4" descr="A blue rectangular sign with white text&#10;&#10;AI-generated content may be incorrect.">
            <a:extLst>
              <a:ext uri="{FF2B5EF4-FFF2-40B4-BE49-F238E27FC236}">
                <a16:creationId xmlns:a16="http://schemas.microsoft.com/office/drawing/2014/main" id="{117CF653-4972-437F-EE3A-3DB365E9C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439" y="806224"/>
            <a:ext cx="5407479" cy="116341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F0ECE0-1888-B469-79FA-6179036AE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317" y="3516086"/>
            <a:ext cx="5419725" cy="11865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56A7BB-6D17-EE57-CEA3-977447E6D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996" y="4711474"/>
            <a:ext cx="5418364" cy="2129518"/>
          </a:xfrm>
          <a:prstGeom prst="rect">
            <a:avLst/>
          </a:prstGeom>
        </p:spPr>
      </p:pic>
      <p:pic>
        <p:nvPicPr>
          <p:cNvPr id="11" name="Picture 10" descr="A blue and white background with numbers&#10;&#10;AI-generated content may be incorrect.">
            <a:extLst>
              <a:ext uri="{FF2B5EF4-FFF2-40B4-BE49-F238E27FC236}">
                <a16:creationId xmlns:a16="http://schemas.microsoft.com/office/drawing/2014/main" id="{81F54E16-E3E1-5467-22EC-2A5630CB93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636" y="1980520"/>
            <a:ext cx="5421085" cy="146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118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ED507-A75B-5474-349A-D2375605E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5E535-CA13-F772-FF5D-AC70C7261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292" y="182592"/>
            <a:ext cx="10018713" cy="616788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2060"/>
                </a:solidFill>
              </a:rPr>
              <a:t>Churn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04CEA-EA73-9A57-02FE-DD489225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4542" y="800665"/>
            <a:ext cx="10728594" cy="605492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b="1">
              <a:solidFill>
                <a:srgbClr val="002060"/>
              </a:solidFill>
              <a:cs typeface="Times New Roman"/>
            </a:endParaRP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  <a:cs typeface="Times New Roman"/>
              </a:rPr>
              <a:t>Churned Customer Region:</a:t>
            </a:r>
            <a:endParaRPr lang="en-US" b="1" dirty="0">
              <a:solidFill>
                <a:srgbClr val="000000"/>
              </a:solidFill>
              <a:cs typeface="Times New Roman"/>
            </a:endParaRPr>
          </a:p>
          <a:p>
            <a:pPr>
              <a:buClr>
                <a:srgbClr val="1287C3"/>
              </a:buClr>
            </a:pPr>
            <a:r>
              <a:rPr lang="en-US" sz="2000" dirty="0">
                <a:solidFill>
                  <a:srgbClr val="002060"/>
                </a:solidFill>
                <a:cs typeface="Times New Roman"/>
              </a:rPr>
              <a:t>Germany: 453 customers</a:t>
            </a:r>
          </a:p>
          <a:p>
            <a:pPr>
              <a:buClr>
                <a:srgbClr val="1287C3"/>
              </a:buClr>
            </a:pPr>
            <a:r>
              <a:rPr lang="en-US" sz="2000">
                <a:solidFill>
                  <a:srgbClr val="002060"/>
                </a:solidFill>
                <a:cs typeface="Times New Roman"/>
              </a:rPr>
              <a:t>France:434 customers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 sz="2000" dirty="0">
                <a:solidFill>
                  <a:srgbClr val="002060"/>
                </a:solidFill>
                <a:cs typeface="Times New Roman"/>
              </a:rPr>
              <a:t>United Kingdom: 498 customers</a:t>
            </a:r>
          </a:p>
          <a:p>
            <a:pPr>
              <a:buClr>
                <a:srgbClr val="1287C3"/>
              </a:buClr>
            </a:pPr>
            <a:endParaRPr lang="en-US" sz="2000">
              <a:solidFill>
                <a:srgbClr val="002060"/>
              </a:solidFill>
              <a:cs typeface="Times New Roman"/>
            </a:endParaRPr>
          </a:p>
          <a:p>
            <a:pPr>
              <a:buClr>
                <a:srgbClr val="1287C3"/>
              </a:buClr>
            </a:pPr>
            <a:endParaRPr lang="en-US" sz="2000">
              <a:solidFill>
                <a:srgbClr val="002060"/>
              </a:solidFill>
              <a:cs typeface="Times New Roman"/>
            </a:endParaRPr>
          </a:p>
          <a:p>
            <a:pPr marL="0" indent="0">
              <a:buClr>
                <a:srgbClr val="1287C3"/>
              </a:buClr>
              <a:buNone/>
            </a:pPr>
            <a:r>
              <a:rPr lang="en-US" sz="2200" b="1" dirty="0">
                <a:solidFill>
                  <a:srgbClr val="002060"/>
                </a:solidFill>
                <a:cs typeface="Times New Roman"/>
              </a:rPr>
              <a:t>Regional Inactive Customers</a:t>
            </a:r>
            <a:r>
              <a:rPr lang="en-US" sz="2000" b="1" dirty="0">
                <a:solidFill>
                  <a:srgbClr val="002060"/>
                </a:solidFill>
                <a:cs typeface="Times New Roman"/>
              </a:rPr>
              <a:t>:</a:t>
            </a:r>
          </a:p>
          <a:p>
            <a:pPr>
              <a:buClr>
                <a:srgbClr val="1287C3"/>
              </a:buClr>
            </a:pPr>
            <a:r>
              <a:rPr lang="en-US" sz="2000" dirty="0">
                <a:solidFill>
                  <a:srgbClr val="002060"/>
                </a:solidFill>
                <a:cs typeface="Times New Roman"/>
              </a:rPr>
              <a:t>Germany: 1223 customers</a:t>
            </a:r>
          </a:p>
          <a:p>
            <a:pPr>
              <a:buClr>
                <a:srgbClr val="1287C3"/>
              </a:buClr>
            </a:pPr>
            <a:r>
              <a:rPr lang="en-US" sz="2000" dirty="0">
                <a:solidFill>
                  <a:srgbClr val="002060"/>
                </a:solidFill>
                <a:cs typeface="Times New Roman"/>
              </a:rPr>
              <a:t>United Kingdom: 2,443 customers</a:t>
            </a:r>
          </a:p>
          <a:p>
            <a:pPr>
              <a:buClr>
                <a:srgbClr val="1287C3"/>
              </a:buClr>
            </a:pPr>
            <a:r>
              <a:rPr lang="en-US" sz="2000" dirty="0">
                <a:solidFill>
                  <a:srgbClr val="002060"/>
                </a:solidFill>
                <a:cs typeface="Times New Roman"/>
              </a:rPr>
              <a:t>France: 1183 customers</a:t>
            </a:r>
          </a:p>
          <a:p>
            <a:pPr marL="0" indent="0">
              <a:buClr>
                <a:srgbClr val="30ACEC">
                  <a:lumMod val="75000"/>
                </a:srgbClr>
              </a:buClr>
              <a:buNone/>
            </a:pPr>
            <a:endParaRPr lang="en-US" sz="2800" b="1">
              <a:solidFill>
                <a:srgbClr val="002060"/>
              </a:solidFill>
              <a:cs typeface="Times New Roman"/>
            </a:endParaRPr>
          </a:p>
          <a:p>
            <a:pPr marL="0" indent="0">
              <a:buClr>
                <a:srgbClr val="1287C3"/>
              </a:buClr>
              <a:buNone/>
            </a:pPr>
            <a:r>
              <a:rPr lang="en-US" sz="2000" b="1" i="1" dirty="0">
                <a:solidFill>
                  <a:srgbClr val="002060"/>
                </a:solidFill>
                <a:cs typeface="Times New Roman"/>
              </a:rPr>
              <a:t> 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21002D-BEFD-99A4-817C-058A262CB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308" y="917121"/>
            <a:ext cx="5671456" cy="2764971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F1FC4D-E9AA-571D-C4A9-D89909671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988" y="3929063"/>
            <a:ext cx="567690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906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3A4E3-FF4B-7388-B1B0-BB199216F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06DAE-47D2-5757-F118-AF6F3996E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292" y="182592"/>
            <a:ext cx="10018713" cy="616788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2060"/>
                </a:solidFill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31B8A-AF59-623C-9667-55F7F8695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4542" y="800665"/>
            <a:ext cx="10728594" cy="6054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Courier New"/>
              <a:buChar char="o"/>
            </a:pPr>
            <a:r>
              <a:rPr lang="en-US" b="1" dirty="0">
                <a:solidFill>
                  <a:srgbClr val="002060"/>
                </a:solidFill>
                <a:cs typeface="Times New Roman"/>
              </a:rPr>
              <a:t>A review of product offering is required with the aim of tackling the high inactive membership rate </a:t>
            </a:r>
            <a:endParaRPr lang="en-US"/>
          </a:p>
          <a:p>
            <a:pPr>
              <a:buFont typeface="Courier New"/>
              <a:buChar char="o"/>
            </a:pPr>
            <a:r>
              <a:rPr lang="en-US" b="1" dirty="0">
                <a:solidFill>
                  <a:srgbClr val="002060"/>
                </a:solidFill>
                <a:cs typeface="Times New Roman"/>
              </a:rPr>
              <a:t>Sales and Marketing strategies geared towards improving customer interaction is essential.</a:t>
            </a:r>
          </a:p>
          <a:p>
            <a:pPr>
              <a:buFont typeface="Courier New"/>
              <a:buChar char="o"/>
            </a:pPr>
            <a:r>
              <a:rPr lang="en-US" b="1" dirty="0">
                <a:solidFill>
                  <a:srgbClr val="002060"/>
                </a:solidFill>
                <a:cs typeface="Times New Roman"/>
              </a:rPr>
              <a:t>Customer retention strategies should be implemented across board and intensified for customers whose tenure in the bank has passed the five year benchmark</a:t>
            </a:r>
            <a:endParaRPr lang="en-US" dirty="0"/>
          </a:p>
          <a:p>
            <a:pPr>
              <a:buFont typeface="Courier New"/>
              <a:buChar char="o"/>
            </a:pPr>
            <a:r>
              <a:rPr lang="en-US" b="1" dirty="0">
                <a:solidFill>
                  <a:srgbClr val="002060"/>
                </a:solidFill>
                <a:cs typeface="Times New Roman"/>
              </a:rPr>
              <a:t>Product incentives targeted towards customers below twenty-one and above 60 should be implemented as a way to boost customer attraction and retention for this age demographics</a:t>
            </a:r>
          </a:p>
          <a:p>
            <a:pPr>
              <a:buFont typeface="Courier New"/>
              <a:buChar char="o"/>
            </a:pPr>
            <a:r>
              <a:rPr lang="en-US" b="1" dirty="0">
                <a:solidFill>
                  <a:srgbClr val="002060"/>
                </a:solidFill>
                <a:cs typeface="Times New Roman"/>
              </a:rPr>
              <a:t>Sales and Marketing strategies for Germany and France needs to be reviewed and enhanced</a:t>
            </a:r>
          </a:p>
        </p:txBody>
      </p:sp>
    </p:spTree>
    <p:extLst>
      <p:ext uri="{BB962C8B-B14F-4D97-AF65-F5344CB8AC3E}">
        <p14:creationId xmlns:p14="http://schemas.microsoft.com/office/powerpoint/2010/main" val="2518814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D3AB9-DD1A-ABC4-886C-E4FDC9AD0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D0F59-CFF5-FB66-48B9-2217E4109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992149" y="182592"/>
            <a:ext cx="377143" cy="603181"/>
          </a:xfrm>
        </p:spPr>
        <p:txBody>
          <a:bodyPr>
            <a:normAutofit/>
          </a:bodyPr>
          <a:lstStyle/>
          <a:p>
            <a:r>
              <a:rPr lang="en-US" sz="800" b="1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06F2D-441C-E99A-3C7D-D6EBB5F5F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4542" y="787058"/>
            <a:ext cx="10728594" cy="20870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endParaRPr lang="en-US" b="1">
              <a:solidFill>
                <a:srgbClr val="002060"/>
              </a:solidFill>
              <a:cs typeface="Times New Roman"/>
            </a:endParaRPr>
          </a:p>
          <a:p>
            <a:pPr marL="0" indent="0" algn="ctr">
              <a:buClr>
                <a:srgbClr val="1287C3"/>
              </a:buClr>
              <a:buNone/>
            </a:pPr>
            <a:r>
              <a:rPr lang="en-US" sz="8000" b="1">
                <a:solidFill>
                  <a:srgbClr val="002060"/>
                </a:solidFill>
                <a:cs typeface="Times New Roman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FE3388-E013-BEB9-B998-0CF02CE5FAF1}"/>
              </a:ext>
            </a:extLst>
          </p:cNvPr>
          <p:cNvSpPr txBox="1"/>
          <p:nvPr/>
        </p:nvSpPr>
        <p:spPr>
          <a:xfrm>
            <a:off x="5164638" y="3243197"/>
            <a:ext cx="371905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Precious Akams</a:t>
            </a:r>
          </a:p>
        </p:txBody>
      </p:sp>
    </p:spTree>
    <p:extLst>
      <p:ext uri="{BB962C8B-B14F-4D97-AF65-F5344CB8AC3E}">
        <p14:creationId xmlns:p14="http://schemas.microsoft.com/office/powerpoint/2010/main" val="870218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Parallax</vt:lpstr>
      <vt:lpstr>Veritas Bank</vt:lpstr>
      <vt:lpstr>Executive Report</vt:lpstr>
      <vt:lpstr>Customer Analysis</vt:lpstr>
      <vt:lpstr>Customer Analysis</vt:lpstr>
      <vt:lpstr>Segment Analysis</vt:lpstr>
      <vt:lpstr>Churn Analysis</vt:lpstr>
      <vt:lpstr>Churn Analysis</vt:lpstr>
      <vt:lpstr>Recommendations</vt:lpstr>
      <vt:lpstr>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92</cp:revision>
  <dcterms:created xsi:type="dcterms:W3CDTF">2025-06-05T10:12:31Z</dcterms:created>
  <dcterms:modified xsi:type="dcterms:W3CDTF">2025-06-10T14:42:37Z</dcterms:modified>
</cp:coreProperties>
</file>